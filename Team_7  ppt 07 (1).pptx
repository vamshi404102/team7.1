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3" r:id="rId2"/>
    <p:sldId id="272" r:id="rId3"/>
    <p:sldId id="274" r:id="rId4"/>
    <p:sldId id="275" r:id="rId5"/>
    <p:sldId id="279" r:id="rId6"/>
    <p:sldId id="277" r:id="rId7"/>
    <p:sldId id="278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4F117-19AB-4005-A509-10B20FD54302}" v="1" dt="2026-01-06T16:24:07.427"/>
    <p1510:client id="{50F55470-F173-4625-90A2-218EE0422378}" v="295" dt="2026-01-07T08:10:59.945"/>
    <p1510:client id="{5B333577-BA40-4C88-AFCF-9185D78ADFF7}" v="155" dt="2026-01-07T04:04:11.853"/>
    <p1510:client id="{7BEEFD3B-2CCB-4262-B8B3-9237CD14F5B4}" v="1" dt="2026-01-07T05:48:35.158"/>
    <p1510:client id="{BEA051EF-F20D-4EEA-8509-44DEB3555ADA}" v="524" dt="2026-01-06T16:10:10.623"/>
    <p1510:client id="{C50A89DD-0A17-6D15-CB50-01B2C9D24243}" v="47" dt="2026-01-06T16:37:17.815"/>
    <p1510:client id="{DA68AAF9-8FF0-48CE-82B5-9F447115DDF5}" v="168" dt="2026-01-07T14:30:19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D1578-DB2D-4107-901D-3B955412066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07197F-5FAB-47DE-BBF8-32E458FDAF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Several safety systems like ADAS are already used in modern vehicles</a:t>
          </a:r>
        </a:p>
      </dgm:t>
    </dgm:pt>
    <dgm:pt modelId="{F9D423F0-43AC-47C2-9F23-1BEE7F6DD454}" type="parTrans" cxnId="{DB96533B-C37B-492B-A903-9C431872BF5D}">
      <dgm:prSet/>
      <dgm:spPr/>
      <dgm:t>
        <a:bodyPr/>
        <a:lstStyle/>
        <a:p>
          <a:endParaRPr lang="en-US"/>
        </a:p>
      </dgm:t>
    </dgm:pt>
    <dgm:pt modelId="{E32682B0-690C-4148-9696-E0366DCD5A61}" type="sibTrans" cxnId="{DB96533B-C37B-492B-A903-9C431872BF5D}">
      <dgm:prSet/>
      <dgm:spPr/>
      <dgm:t>
        <a:bodyPr/>
        <a:lstStyle/>
        <a:p>
          <a:endParaRPr lang="en-US"/>
        </a:p>
      </dgm:t>
    </dgm:pt>
    <dgm:pt modelId="{AD943517-20FC-4664-9363-966E6EA78C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Collision warning systems help reduce impact severity</a:t>
          </a:r>
        </a:p>
      </dgm:t>
    </dgm:pt>
    <dgm:pt modelId="{5A2D3D50-6E21-4015-9F35-F3EC5DE4C0E6}" type="parTrans" cxnId="{F477158D-FF88-462A-9583-35A916601ACC}">
      <dgm:prSet/>
      <dgm:spPr/>
      <dgm:t>
        <a:bodyPr/>
        <a:lstStyle/>
        <a:p>
          <a:endParaRPr lang="en-US"/>
        </a:p>
      </dgm:t>
    </dgm:pt>
    <dgm:pt modelId="{80894DC2-4A6E-4FF3-AB6B-329BCFBDE004}" type="sibTrans" cxnId="{F477158D-FF88-462A-9583-35A916601ACC}">
      <dgm:prSet/>
      <dgm:spPr/>
      <dgm:t>
        <a:bodyPr/>
        <a:lstStyle/>
        <a:p>
          <a:endParaRPr lang="en-US"/>
        </a:p>
      </dgm:t>
    </dgm:pt>
    <dgm:pt modelId="{EAD30610-F66B-499D-9EB3-40AB3B623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Speed monitoring systems assist in controlling overspeeding</a:t>
          </a:r>
        </a:p>
      </dgm:t>
    </dgm:pt>
    <dgm:pt modelId="{758B9ED3-058A-4D9D-AC2F-448990A5E223}" type="parTrans" cxnId="{5441B981-84DC-46CC-B14D-55EE69F0AD4A}">
      <dgm:prSet/>
      <dgm:spPr/>
      <dgm:t>
        <a:bodyPr/>
        <a:lstStyle/>
        <a:p>
          <a:endParaRPr lang="en-US"/>
        </a:p>
      </dgm:t>
    </dgm:pt>
    <dgm:pt modelId="{8CC55082-6F9C-4655-87D5-1584780159B9}" type="sibTrans" cxnId="{5441B981-84DC-46CC-B14D-55EE69F0AD4A}">
      <dgm:prSet/>
      <dgm:spPr/>
      <dgm:t>
        <a:bodyPr/>
        <a:lstStyle/>
        <a:p>
          <a:endParaRPr lang="en-US"/>
        </a:p>
      </dgm:t>
    </dgm:pt>
    <dgm:pt modelId="{D2A028FE-C291-4A0D-BD04-7616D6BD70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Studies show AI is effective in detecting driver fatigue</a:t>
          </a:r>
        </a:p>
      </dgm:t>
    </dgm:pt>
    <dgm:pt modelId="{37904686-8EE3-4F9A-B070-EF1B3E048479}" type="parTrans" cxnId="{4245183E-301C-43AE-A91F-F500D1DC59B2}">
      <dgm:prSet/>
      <dgm:spPr/>
      <dgm:t>
        <a:bodyPr/>
        <a:lstStyle/>
        <a:p>
          <a:endParaRPr lang="en-US"/>
        </a:p>
      </dgm:t>
    </dgm:pt>
    <dgm:pt modelId="{85F9577D-EDEC-42A1-BF33-12498C436380}" type="sibTrans" cxnId="{4245183E-301C-43AE-A91F-F500D1DC59B2}">
      <dgm:prSet/>
      <dgm:spPr/>
      <dgm:t>
        <a:bodyPr/>
        <a:lstStyle/>
        <a:p>
          <a:endParaRPr lang="en-US"/>
        </a:p>
      </dgm:t>
    </dgm:pt>
    <dgm:pt modelId="{49229B53-B810-4AC0-82A9-F4551B12B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techniques also identify driver distraction accurately</a:t>
          </a:r>
        </a:p>
      </dgm:t>
    </dgm:pt>
    <dgm:pt modelId="{72C35ACC-14B4-4D20-9F05-47A7AC7B0E80}" type="parTrans" cxnId="{4172EB8A-720A-4F25-9301-4E09F5041442}">
      <dgm:prSet/>
      <dgm:spPr/>
      <dgm:t>
        <a:bodyPr/>
        <a:lstStyle/>
        <a:p>
          <a:endParaRPr lang="en-US"/>
        </a:p>
      </dgm:t>
    </dgm:pt>
    <dgm:pt modelId="{6CF2B538-300C-47C9-8823-89BC8F83FB0B}" type="sibTrans" cxnId="{4172EB8A-720A-4F25-9301-4E09F5041442}">
      <dgm:prSet/>
      <dgm:spPr/>
      <dgm:t>
        <a:bodyPr/>
        <a:lstStyle/>
        <a:p>
          <a:endParaRPr lang="en-US"/>
        </a:p>
      </dgm:t>
    </dgm:pt>
    <dgm:pt modelId="{35F2241D-0E91-4674-B8A4-AC5C19F47F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IoT enables vehicle-to-vehicle communication</a:t>
          </a:r>
        </a:p>
      </dgm:t>
    </dgm:pt>
    <dgm:pt modelId="{D6998A28-A56C-46C3-81E3-2829EFC8FEB8}" type="parTrans" cxnId="{B62BF037-CD20-4FC9-A946-A4B2FEB51855}">
      <dgm:prSet/>
      <dgm:spPr/>
      <dgm:t>
        <a:bodyPr/>
        <a:lstStyle/>
        <a:p>
          <a:endParaRPr lang="en-US"/>
        </a:p>
      </dgm:t>
    </dgm:pt>
    <dgm:pt modelId="{4376D26E-79C3-41FD-9F43-F076AE57F410}" type="sibTrans" cxnId="{B62BF037-CD20-4FC9-A946-A4B2FEB51855}">
      <dgm:prSet/>
      <dgm:spPr/>
      <dgm:t>
        <a:bodyPr/>
        <a:lstStyle/>
        <a:p>
          <a:endParaRPr lang="en-US"/>
        </a:p>
      </dgm:t>
    </dgm:pt>
    <dgm:pt modelId="{4EB0B450-167D-4DA3-B780-392DB44690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IoT supports vehicle-to-infrastructure data exchange</a:t>
          </a:r>
        </a:p>
      </dgm:t>
    </dgm:pt>
    <dgm:pt modelId="{4C8849EF-6886-4BBB-A997-A3C434AC5553}" type="parTrans" cxnId="{C7F01C67-0BB8-4949-9793-19C7EB3C974E}">
      <dgm:prSet/>
      <dgm:spPr/>
      <dgm:t>
        <a:bodyPr/>
        <a:lstStyle/>
        <a:p>
          <a:endParaRPr lang="en-US"/>
        </a:p>
      </dgm:t>
    </dgm:pt>
    <dgm:pt modelId="{5483D5F6-936E-4AA8-91BA-2FEC3834CD41}" type="sibTrans" cxnId="{C7F01C67-0BB8-4949-9793-19C7EB3C974E}">
      <dgm:prSet/>
      <dgm:spPr/>
      <dgm:t>
        <a:bodyPr/>
        <a:lstStyle/>
        <a:p>
          <a:endParaRPr lang="en-US"/>
        </a:p>
      </dgm:t>
    </dgm:pt>
    <dgm:pt modelId="{3AEE45AC-AF39-4CAA-BED2-335D942F8D84}" type="pres">
      <dgm:prSet presAssocID="{64CD1578-DB2D-4107-901D-3B9554120667}" presName="vert0" presStyleCnt="0">
        <dgm:presLayoutVars>
          <dgm:dir/>
          <dgm:animOne val="branch"/>
          <dgm:animLvl val="lvl"/>
        </dgm:presLayoutVars>
      </dgm:prSet>
      <dgm:spPr/>
    </dgm:pt>
    <dgm:pt modelId="{BE1CFD54-981E-4234-8346-9AB6ADC2775F}" type="pres">
      <dgm:prSet presAssocID="{7807197F-5FAB-47DE-BBF8-32E458FDAFA4}" presName="thickLine" presStyleLbl="alignNode1" presStyleIdx="0" presStyleCnt="7"/>
      <dgm:spPr/>
    </dgm:pt>
    <dgm:pt modelId="{15851899-7A6C-4FCA-954F-FC23A798BB25}" type="pres">
      <dgm:prSet presAssocID="{7807197F-5FAB-47DE-BBF8-32E458FDAFA4}" presName="horz1" presStyleCnt="0"/>
      <dgm:spPr/>
    </dgm:pt>
    <dgm:pt modelId="{63EDD743-154D-48F7-BBF7-30B238EC4B16}" type="pres">
      <dgm:prSet presAssocID="{7807197F-5FAB-47DE-BBF8-32E458FDAFA4}" presName="tx1" presStyleLbl="revTx" presStyleIdx="0" presStyleCnt="7"/>
      <dgm:spPr/>
    </dgm:pt>
    <dgm:pt modelId="{6D847C75-2C61-40D6-B930-3A84D0DA83DC}" type="pres">
      <dgm:prSet presAssocID="{7807197F-5FAB-47DE-BBF8-32E458FDAFA4}" presName="vert1" presStyleCnt="0"/>
      <dgm:spPr/>
    </dgm:pt>
    <dgm:pt modelId="{3260206E-B6AB-4D6F-B032-7B1080977C88}" type="pres">
      <dgm:prSet presAssocID="{AD943517-20FC-4664-9363-966E6EA78CAD}" presName="thickLine" presStyleLbl="alignNode1" presStyleIdx="1" presStyleCnt="7"/>
      <dgm:spPr/>
    </dgm:pt>
    <dgm:pt modelId="{9A10921A-DBFC-4902-9554-878D22C569EF}" type="pres">
      <dgm:prSet presAssocID="{AD943517-20FC-4664-9363-966E6EA78CAD}" presName="horz1" presStyleCnt="0"/>
      <dgm:spPr/>
    </dgm:pt>
    <dgm:pt modelId="{0C4B640D-5A0E-41D3-AECD-1B7032520E7E}" type="pres">
      <dgm:prSet presAssocID="{AD943517-20FC-4664-9363-966E6EA78CAD}" presName="tx1" presStyleLbl="revTx" presStyleIdx="1" presStyleCnt="7"/>
      <dgm:spPr/>
    </dgm:pt>
    <dgm:pt modelId="{190EE355-5FD1-47E6-800C-383869B84936}" type="pres">
      <dgm:prSet presAssocID="{AD943517-20FC-4664-9363-966E6EA78CAD}" presName="vert1" presStyleCnt="0"/>
      <dgm:spPr/>
    </dgm:pt>
    <dgm:pt modelId="{3A79DE15-39AE-4740-A8B2-2A0D81EC62CB}" type="pres">
      <dgm:prSet presAssocID="{EAD30610-F66B-499D-9EB3-40AB3B623FB6}" presName="thickLine" presStyleLbl="alignNode1" presStyleIdx="2" presStyleCnt="7"/>
      <dgm:spPr/>
    </dgm:pt>
    <dgm:pt modelId="{F40EFFAA-3735-4195-B7A6-D38683A7B8EB}" type="pres">
      <dgm:prSet presAssocID="{EAD30610-F66B-499D-9EB3-40AB3B623FB6}" presName="horz1" presStyleCnt="0"/>
      <dgm:spPr/>
    </dgm:pt>
    <dgm:pt modelId="{676D0FBD-A51E-422E-8ABC-B653FC5A9DBF}" type="pres">
      <dgm:prSet presAssocID="{EAD30610-F66B-499D-9EB3-40AB3B623FB6}" presName="tx1" presStyleLbl="revTx" presStyleIdx="2" presStyleCnt="7"/>
      <dgm:spPr/>
    </dgm:pt>
    <dgm:pt modelId="{E281EE9B-07FE-4985-A320-D925CA6B51AF}" type="pres">
      <dgm:prSet presAssocID="{EAD30610-F66B-499D-9EB3-40AB3B623FB6}" presName="vert1" presStyleCnt="0"/>
      <dgm:spPr/>
    </dgm:pt>
    <dgm:pt modelId="{67A009A5-FCCE-4278-A1E3-1BA97AFEB976}" type="pres">
      <dgm:prSet presAssocID="{D2A028FE-C291-4A0D-BD04-7616D6BD7094}" presName="thickLine" presStyleLbl="alignNode1" presStyleIdx="3" presStyleCnt="7"/>
      <dgm:spPr/>
    </dgm:pt>
    <dgm:pt modelId="{152A9C68-7101-4B41-8807-AB1C0113C747}" type="pres">
      <dgm:prSet presAssocID="{D2A028FE-C291-4A0D-BD04-7616D6BD7094}" presName="horz1" presStyleCnt="0"/>
      <dgm:spPr/>
    </dgm:pt>
    <dgm:pt modelId="{CBCC2FCA-F66F-415F-8082-5AD7F5774ED5}" type="pres">
      <dgm:prSet presAssocID="{D2A028FE-C291-4A0D-BD04-7616D6BD7094}" presName="tx1" presStyleLbl="revTx" presStyleIdx="3" presStyleCnt="7"/>
      <dgm:spPr/>
    </dgm:pt>
    <dgm:pt modelId="{0DBE6916-00BA-4B6E-885C-2F2046F95B60}" type="pres">
      <dgm:prSet presAssocID="{D2A028FE-C291-4A0D-BD04-7616D6BD7094}" presName="vert1" presStyleCnt="0"/>
      <dgm:spPr/>
    </dgm:pt>
    <dgm:pt modelId="{DDB9A04E-EB68-4A9D-942F-48268A805838}" type="pres">
      <dgm:prSet presAssocID="{49229B53-B810-4AC0-82A9-F4551B12B3E4}" presName="thickLine" presStyleLbl="alignNode1" presStyleIdx="4" presStyleCnt="7"/>
      <dgm:spPr/>
    </dgm:pt>
    <dgm:pt modelId="{8B833156-AAA1-44D6-9B9F-DEEF91CB7BCE}" type="pres">
      <dgm:prSet presAssocID="{49229B53-B810-4AC0-82A9-F4551B12B3E4}" presName="horz1" presStyleCnt="0"/>
      <dgm:spPr/>
    </dgm:pt>
    <dgm:pt modelId="{C7893CA6-4AEC-47B3-819E-57AA12AA21AC}" type="pres">
      <dgm:prSet presAssocID="{49229B53-B810-4AC0-82A9-F4551B12B3E4}" presName="tx1" presStyleLbl="revTx" presStyleIdx="4" presStyleCnt="7"/>
      <dgm:spPr/>
    </dgm:pt>
    <dgm:pt modelId="{A370A425-BFF6-4B41-993C-2B44C12AC13F}" type="pres">
      <dgm:prSet presAssocID="{49229B53-B810-4AC0-82A9-F4551B12B3E4}" presName="vert1" presStyleCnt="0"/>
      <dgm:spPr/>
    </dgm:pt>
    <dgm:pt modelId="{22002129-E874-4690-B7C3-D7AA6C7EE809}" type="pres">
      <dgm:prSet presAssocID="{35F2241D-0E91-4674-B8A4-AC5C19F47F42}" presName="thickLine" presStyleLbl="alignNode1" presStyleIdx="5" presStyleCnt="7"/>
      <dgm:spPr/>
    </dgm:pt>
    <dgm:pt modelId="{228B0861-C0C5-4C3B-8A95-6CDD0544DD6D}" type="pres">
      <dgm:prSet presAssocID="{35F2241D-0E91-4674-B8A4-AC5C19F47F42}" presName="horz1" presStyleCnt="0"/>
      <dgm:spPr/>
    </dgm:pt>
    <dgm:pt modelId="{6E9BD11B-5A8C-426C-89D6-2555B3DA1B22}" type="pres">
      <dgm:prSet presAssocID="{35F2241D-0E91-4674-B8A4-AC5C19F47F42}" presName="tx1" presStyleLbl="revTx" presStyleIdx="5" presStyleCnt="7"/>
      <dgm:spPr/>
    </dgm:pt>
    <dgm:pt modelId="{C8079F43-F818-4217-82B6-1332935DA30B}" type="pres">
      <dgm:prSet presAssocID="{35F2241D-0E91-4674-B8A4-AC5C19F47F42}" presName="vert1" presStyleCnt="0"/>
      <dgm:spPr/>
    </dgm:pt>
    <dgm:pt modelId="{68DFD7A3-5708-49E9-AED8-E15AF59CAD97}" type="pres">
      <dgm:prSet presAssocID="{4EB0B450-167D-4DA3-B780-392DB44690AD}" presName="thickLine" presStyleLbl="alignNode1" presStyleIdx="6" presStyleCnt="7"/>
      <dgm:spPr/>
    </dgm:pt>
    <dgm:pt modelId="{9170CF96-3449-4B9A-BBD9-719CF85AC026}" type="pres">
      <dgm:prSet presAssocID="{4EB0B450-167D-4DA3-B780-392DB44690AD}" presName="horz1" presStyleCnt="0"/>
      <dgm:spPr/>
    </dgm:pt>
    <dgm:pt modelId="{59BC2793-21C8-48BF-AA7B-C3FE2996C230}" type="pres">
      <dgm:prSet presAssocID="{4EB0B450-167D-4DA3-B780-392DB44690AD}" presName="tx1" presStyleLbl="revTx" presStyleIdx="6" presStyleCnt="7"/>
      <dgm:spPr/>
    </dgm:pt>
    <dgm:pt modelId="{DD4BBA2A-994D-4F56-A584-50BF18FF351E}" type="pres">
      <dgm:prSet presAssocID="{4EB0B450-167D-4DA3-B780-392DB44690AD}" presName="vert1" presStyleCnt="0"/>
      <dgm:spPr/>
    </dgm:pt>
  </dgm:ptLst>
  <dgm:cxnLst>
    <dgm:cxn modelId="{9C168905-4159-4100-858D-732FEA30E673}" type="presOf" srcId="{7807197F-5FAB-47DE-BBF8-32E458FDAFA4}" destId="{63EDD743-154D-48F7-BBF7-30B238EC4B16}" srcOrd="0" destOrd="0" presId="urn:microsoft.com/office/officeart/2008/layout/LinedList"/>
    <dgm:cxn modelId="{255CC818-8AD8-41CD-990D-D5C31D9B728F}" type="presOf" srcId="{AD943517-20FC-4664-9363-966E6EA78CAD}" destId="{0C4B640D-5A0E-41D3-AECD-1B7032520E7E}" srcOrd="0" destOrd="0" presId="urn:microsoft.com/office/officeart/2008/layout/LinedList"/>
    <dgm:cxn modelId="{0E6A341B-6CCE-4BBF-9555-9C2F4AC169FD}" type="presOf" srcId="{EAD30610-F66B-499D-9EB3-40AB3B623FB6}" destId="{676D0FBD-A51E-422E-8ABC-B653FC5A9DBF}" srcOrd="0" destOrd="0" presId="urn:microsoft.com/office/officeart/2008/layout/LinedList"/>
    <dgm:cxn modelId="{0B70F81B-9DFD-4BF7-9537-1AC0869523E4}" type="presOf" srcId="{D2A028FE-C291-4A0D-BD04-7616D6BD7094}" destId="{CBCC2FCA-F66F-415F-8082-5AD7F5774ED5}" srcOrd="0" destOrd="0" presId="urn:microsoft.com/office/officeart/2008/layout/LinedList"/>
    <dgm:cxn modelId="{B62BF037-CD20-4FC9-A946-A4B2FEB51855}" srcId="{64CD1578-DB2D-4107-901D-3B9554120667}" destId="{35F2241D-0E91-4674-B8A4-AC5C19F47F42}" srcOrd="5" destOrd="0" parTransId="{D6998A28-A56C-46C3-81E3-2829EFC8FEB8}" sibTransId="{4376D26E-79C3-41FD-9F43-F076AE57F410}"/>
    <dgm:cxn modelId="{DB96533B-C37B-492B-A903-9C431872BF5D}" srcId="{64CD1578-DB2D-4107-901D-3B9554120667}" destId="{7807197F-5FAB-47DE-BBF8-32E458FDAFA4}" srcOrd="0" destOrd="0" parTransId="{F9D423F0-43AC-47C2-9F23-1BEE7F6DD454}" sibTransId="{E32682B0-690C-4148-9696-E0366DCD5A61}"/>
    <dgm:cxn modelId="{4245183E-301C-43AE-A91F-F500D1DC59B2}" srcId="{64CD1578-DB2D-4107-901D-3B9554120667}" destId="{D2A028FE-C291-4A0D-BD04-7616D6BD7094}" srcOrd="3" destOrd="0" parTransId="{37904686-8EE3-4F9A-B070-EF1B3E048479}" sibTransId="{85F9577D-EDEC-42A1-BF33-12498C436380}"/>
    <dgm:cxn modelId="{76B58443-D744-4F91-B964-C0A2F2C60F94}" type="presOf" srcId="{4EB0B450-167D-4DA3-B780-392DB44690AD}" destId="{59BC2793-21C8-48BF-AA7B-C3FE2996C230}" srcOrd="0" destOrd="0" presId="urn:microsoft.com/office/officeart/2008/layout/LinedList"/>
    <dgm:cxn modelId="{59893044-46E8-4A0F-AC7C-2485BB9559CD}" type="presOf" srcId="{49229B53-B810-4AC0-82A9-F4551B12B3E4}" destId="{C7893CA6-4AEC-47B3-819E-57AA12AA21AC}" srcOrd="0" destOrd="0" presId="urn:microsoft.com/office/officeart/2008/layout/LinedList"/>
    <dgm:cxn modelId="{C7F01C67-0BB8-4949-9793-19C7EB3C974E}" srcId="{64CD1578-DB2D-4107-901D-3B9554120667}" destId="{4EB0B450-167D-4DA3-B780-392DB44690AD}" srcOrd="6" destOrd="0" parTransId="{4C8849EF-6886-4BBB-A997-A3C434AC5553}" sibTransId="{5483D5F6-936E-4AA8-91BA-2FEC3834CD41}"/>
    <dgm:cxn modelId="{5441B981-84DC-46CC-B14D-55EE69F0AD4A}" srcId="{64CD1578-DB2D-4107-901D-3B9554120667}" destId="{EAD30610-F66B-499D-9EB3-40AB3B623FB6}" srcOrd="2" destOrd="0" parTransId="{758B9ED3-058A-4D9D-AC2F-448990A5E223}" sibTransId="{8CC55082-6F9C-4655-87D5-1584780159B9}"/>
    <dgm:cxn modelId="{4172EB8A-720A-4F25-9301-4E09F5041442}" srcId="{64CD1578-DB2D-4107-901D-3B9554120667}" destId="{49229B53-B810-4AC0-82A9-F4551B12B3E4}" srcOrd="4" destOrd="0" parTransId="{72C35ACC-14B4-4D20-9F05-47A7AC7B0E80}" sibTransId="{6CF2B538-300C-47C9-8823-89BC8F83FB0B}"/>
    <dgm:cxn modelId="{F477158D-FF88-462A-9583-35A916601ACC}" srcId="{64CD1578-DB2D-4107-901D-3B9554120667}" destId="{AD943517-20FC-4664-9363-966E6EA78CAD}" srcOrd="1" destOrd="0" parTransId="{5A2D3D50-6E21-4015-9F35-F3EC5DE4C0E6}" sibTransId="{80894DC2-4A6E-4FF3-AB6B-329BCFBDE004}"/>
    <dgm:cxn modelId="{F119EDBC-BD9A-4C8B-B886-E72B160F69FC}" type="presOf" srcId="{35F2241D-0E91-4674-B8A4-AC5C19F47F42}" destId="{6E9BD11B-5A8C-426C-89D6-2555B3DA1B22}" srcOrd="0" destOrd="0" presId="urn:microsoft.com/office/officeart/2008/layout/LinedList"/>
    <dgm:cxn modelId="{879362D5-2DFA-47E5-8967-5AFBAAC42ABC}" type="presOf" srcId="{64CD1578-DB2D-4107-901D-3B9554120667}" destId="{3AEE45AC-AF39-4CAA-BED2-335D942F8D84}" srcOrd="0" destOrd="0" presId="urn:microsoft.com/office/officeart/2008/layout/LinedList"/>
    <dgm:cxn modelId="{3EC17CE2-90A2-4A0F-A4C1-C015BACE0426}" type="presParOf" srcId="{3AEE45AC-AF39-4CAA-BED2-335D942F8D84}" destId="{BE1CFD54-981E-4234-8346-9AB6ADC2775F}" srcOrd="0" destOrd="0" presId="urn:microsoft.com/office/officeart/2008/layout/LinedList"/>
    <dgm:cxn modelId="{F04A3CDA-11B4-4AD5-8519-95A26DA092ED}" type="presParOf" srcId="{3AEE45AC-AF39-4CAA-BED2-335D942F8D84}" destId="{15851899-7A6C-4FCA-954F-FC23A798BB25}" srcOrd="1" destOrd="0" presId="urn:microsoft.com/office/officeart/2008/layout/LinedList"/>
    <dgm:cxn modelId="{05E22BBA-F827-4989-8330-0F9465B8B922}" type="presParOf" srcId="{15851899-7A6C-4FCA-954F-FC23A798BB25}" destId="{63EDD743-154D-48F7-BBF7-30B238EC4B16}" srcOrd="0" destOrd="0" presId="urn:microsoft.com/office/officeart/2008/layout/LinedList"/>
    <dgm:cxn modelId="{08AAD11E-60D7-4D5B-8A08-1D2745840F77}" type="presParOf" srcId="{15851899-7A6C-4FCA-954F-FC23A798BB25}" destId="{6D847C75-2C61-40D6-B930-3A84D0DA83DC}" srcOrd="1" destOrd="0" presId="urn:microsoft.com/office/officeart/2008/layout/LinedList"/>
    <dgm:cxn modelId="{0D231665-B960-491D-8C05-08D296D15489}" type="presParOf" srcId="{3AEE45AC-AF39-4CAA-BED2-335D942F8D84}" destId="{3260206E-B6AB-4D6F-B032-7B1080977C88}" srcOrd="2" destOrd="0" presId="urn:microsoft.com/office/officeart/2008/layout/LinedList"/>
    <dgm:cxn modelId="{131559FA-E88E-4EAA-87BF-581F1D293D1B}" type="presParOf" srcId="{3AEE45AC-AF39-4CAA-BED2-335D942F8D84}" destId="{9A10921A-DBFC-4902-9554-878D22C569EF}" srcOrd="3" destOrd="0" presId="urn:microsoft.com/office/officeart/2008/layout/LinedList"/>
    <dgm:cxn modelId="{3BFE5866-3B19-4A5C-A14B-52541B4CE54C}" type="presParOf" srcId="{9A10921A-DBFC-4902-9554-878D22C569EF}" destId="{0C4B640D-5A0E-41D3-AECD-1B7032520E7E}" srcOrd="0" destOrd="0" presId="urn:microsoft.com/office/officeart/2008/layout/LinedList"/>
    <dgm:cxn modelId="{BF49615E-F91A-407A-8F43-7D56DE4F4D6C}" type="presParOf" srcId="{9A10921A-DBFC-4902-9554-878D22C569EF}" destId="{190EE355-5FD1-47E6-800C-383869B84936}" srcOrd="1" destOrd="0" presId="urn:microsoft.com/office/officeart/2008/layout/LinedList"/>
    <dgm:cxn modelId="{1CD8A152-EC7C-451A-87B7-D039F43B8CAC}" type="presParOf" srcId="{3AEE45AC-AF39-4CAA-BED2-335D942F8D84}" destId="{3A79DE15-39AE-4740-A8B2-2A0D81EC62CB}" srcOrd="4" destOrd="0" presId="urn:microsoft.com/office/officeart/2008/layout/LinedList"/>
    <dgm:cxn modelId="{19B15058-74F1-417C-AD68-C1DBEE9185C9}" type="presParOf" srcId="{3AEE45AC-AF39-4CAA-BED2-335D942F8D84}" destId="{F40EFFAA-3735-4195-B7A6-D38683A7B8EB}" srcOrd="5" destOrd="0" presId="urn:microsoft.com/office/officeart/2008/layout/LinedList"/>
    <dgm:cxn modelId="{A71E0434-283F-46AF-B0AA-9CB47C0B2955}" type="presParOf" srcId="{F40EFFAA-3735-4195-B7A6-D38683A7B8EB}" destId="{676D0FBD-A51E-422E-8ABC-B653FC5A9DBF}" srcOrd="0" destOrd="0" presId="urn:microsoft.com/office/officeart/2008/layout/LinedList"/>
    <dgm:cxn modelId="{136967B8-E1B3-44A6-AD38-6856EBEB92B8}" type="presParOf" srcId="{F40EFFAA-3735-4195-B7A6-D38683A7B8EB}" destId="{E281EE9B-07FE-4985-A320-D925CA6B51AF}" srcOrd="1" destOrd="0" presId="urn:microsoft.com/office/officeart/2008/layout/LinedList"/>
    <dgm:cxn modelId="{300E40B7-A6D2-4B93-89F3-1DA4DCBE3886}" type="presParOf" srcId="{3AEE45AC-AF39-4CAA-BED2-335D942F8D84}" destId="{67A009A5-FCCE-4278-A1E3-1BA97AFEB976}" srcOrd="6" destOrd="0" presId="urn:microsoft.com/office/officeart/2008/layout/LinedList"/>
    <dgm:cxn modelId="{1A1300F4-A348-4FCF-9311-5493393DEB52}" type="presParOf" srcId="{3AEE45AC-AF39-4CAA-BED2-335D942F8D84}" destId="{152A9C68-7101-4B41-8807-AB1C0113C747}" srcOrd="7" destOrd="0" presId="urn:microsoft.com/office/officeart/2008/layout/LinedList"/>
    <dgm:cxn modelId="{B8866F83-BA06-4C91-BCE4-679F4554283E}" type="presParOf" srcId="{152A9C68-7101-4B41-8807-AB1C0113C747}" destId="{CBCC2FCA-F66F-415F-8082-5AD7F5774ED5}" srcOrd="0" destOrd="0" presId="urn:microsoft.com/office/officeart/2008/layout/LinedList"/>
    <dgm:cxn modelId="{EDFA0061-98CF-40F5-9DED-AD66183F729C}" type="presParOf" srcId="{152A9C68-7101-4B41-8807-AB1C0113C747}" destId="{0DBE6916-00BA-4B6E-885C-2F2046F95B60}" srcOrd="1" destOrd="0" presId="urn:microsoft.com/office/officeart/2008/layout/LinedList"/>
    <dgm:cxn modelId="{40BB6F7D-6293-4D8A-9CF6-3C70185C71B1}" type="presParOf" srcId="{3AEE45AC-AF39-4CAA-BED2-335D942F8D84}" destId="{DDB9A04E-EB68-4A9D-942F-48268A805838}" srcOrd="8" destOrd="0" presId="urn:microsoft.com/office/officeart/2008/layout/LinedList"/>
    <dgm:cxn modelId="{3B7C5ECC-6ED9-4712-8A39-C9824142226C}" type="presParOf" srcId="{3AEE45AC-AF39-4CAA-BED2-335D942F8D84}" destId="{8B833156-AAA1-44D6-9B9F-DEEF91CB7BCE}" srcOrd="9" destOrd="0" presId="urn:microsoft.com/office/officeart/2008/layout/LinedList"/>
    <dgm:cxn modelId="{56F7D84D-B000-47F7-84B4-98A7BA5827DB}" type="presParOf" srcId="{8B833156-AAA1-44D6-9B9F-DEEF91CB7BCE}" destId="{C7893CA6-4AEC-47B3-819E-57AA12AA21AC}" srcOrd="0" destOrd="0" presId="urn:microsoft.com/office/officeart/2008/layout/LinedList"/>
    <dgm:cxn modelId="{CC264057-6D9E-4B36-BA17-2B7CC4286504}" type="presParOf" srcId="{8B833156-AAA1-44D6-9B9F-DEEF91CB7BCE}" destId="{A370A425-BFF6-4B41-993C-2B44C12AC13F}" srcOrd="1" destOrd="0" presId="urn:microsoft.com/office/officeart/2008/layout/LinedList"/>
    <dgm:cxn modelId="{420C9639-4FBE-4F93-AA1D-515AF8F38027}" type="presParOf" srcId="{3AEE45AC-AF39-4CAA-BED2-335D942F8D84}" destId="{22002129-E874-4690-B7C3-D7AA6C7EE809}" srcOrd="10" destOrd="0" presId="urn:microsoft.com/office/officeart/2008/layout/LinedList"/>
    <dgm:cxn modelId="{3DD02627-202A-4F05-8CAD-5D632A13B043}" type="presParOf" srcId="{3AEE45AC-AF39-4CAA-BED2-335D942F8D84}" destId="{228B0861-C0C5-4C3B-8A95-6CDD0544DD6D}" srcOrd="11" destOrd="0" presId="urn:microsoft.com/office/officeart/2008/layout/LinedList"/>
    <dgm:cxn modelId="{3EA4ABC8-E2FE-42DA-9023-6BD20AB66C30}" type="presParOf" srcId="{228B0861-C0C5-4C3B-8A95-6CDD0544DD6D}" destId="{6E9BD11B-5A8C-426C-89D6-2555B3DA1B22}" srcOrd="0" destOrd="0" presId="urn:microsoft.com/office/officeart/2008/layout/LinedList"/>
    <dgm:cxn modelId="{2B3B4568-9E64-4E48-8A58-96556A57B806}" type="presParOf" srcId="{228B0861-C0C5-4C3B-8A95-6CDD0544DD6D}" destId="{C8079F43-F818-4217-82B6-1332935DA30B}" srcOrd="1" destOrd="0" presId="urn:microsoft.com/office/officeart/2008/layout/LinedList"/>
    <dgm:cxn modelId="{26A5A4D3-B929-4613-BDF5-23EAFC7822EB}" type="presParOf" srcId="{3AEE45AC-AF39-4CAA-BED2-335D942F8D84}" destId="{68DFD7A3-5708-49E9-AED8-E15AF59CAD97}" srcOrd="12" destOrd="0" presId="urn:microsoft.com/office/officeart/2008/layout/LinedList"/>
    <dgm:cxn modelId="{4E0FC860-3E37-47FE-80A0-A9F03335134A}" type="presParOf" srcId="{3AEE45AC-AF39-4CAA-BED2-335D942F8D84}" destId="{9170CF96-3449-4B9A-BBD9-719CF85AC026}" srcOrd="13" destOrd="0" presId="urn:microsoft.com/office/officeart/2008/layout/LinedList"/>
    <dgm:cxn modelId="{09ECA5D6-B95C-4968-9232-E31EB398A634}" type="presParOf" srcId="{9170CF96-3449-4B9A-BBD9-719CF85AC026}" destId="{59BC2793-21C8-48BF-AA7B-C3FE2996C230}" srcOrd="0" destOrd="0" presId="urn:microsoft.com/office/officeart/2008/layout/LinedList"/>
    <dgm:cxn modelId="{48E359EB-1C50-48AF-9AAA-4420C5BC6FE2}" type="presParOf" srcId="{9170CF96-3449-4B9A-BBD9-719CF85AC026}" destId="{DD4BBA2A-994D-4F56-A584-50BF18FF35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CFD54-981E-4234-8346-9AB6ADC2775F}">
      <dsp:nvSpPr>
        <dsp:cNvPr id="0" name=""/>
        <dsp:cNvSpPr/>
      </dsp:nvSpPr>
      <dsp:spPr>
        <a:xfrm>
          <a:off x="0" y="531"/>
          <a:ext cx="53933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DD743-154D-48F7-BBF7-30B238EC4B16}">
      <dsp:nvSpPr>
        <dsp:cNvPr id="0" name=""/>
        <dsp:cNvSpPr/>
      </dsp:nvSpPr>
      <dsp:spPr>
        <a:xfrm>
          <a:off x="0" y="531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Several safety systems like ADAS are already used in modern vehicles</a:t>
          </a:r>
        </a:p>
      </dsp:txBody>
      <dsp:txXfrm>
        <a:off x="0" y="531"/>
        <a:ext cx="5393361" cy="621467"/>
      </dsp:txXfrm>
    </dsp:sp>
    <dsp:sp modelId="{3260206E-B6AB-4D6F-B032-7B1080977C88}">
      <dsp:nvSpPr>
        <dsp:cNvPr id="0" name=""/>
        <dsp:cNvSpPr/>
      </dsp:nvSpPr>
      <dsp:spPr>
        <a:xfrm>
          <a:off x="0" y="621999"/>
          <a:ext cx="539336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B640D-5A0E-41D3-AECD-1B7032520E7E}">
      <dsp:nvSpPr>
        <dsp:cNvPr id="0" name=""/>
        <dsp:cNvSpPr/>
      </dsp:nvSpPr>
      <dsp:spPr>
        <a:xfrm>
          <a:off x="0" y="621999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Collision warning systems help reduce impact severity</a:t>
          </a:r>
        </a:p>
      </dsp:txBody>
      <dsp:txXfrm>
        <a:off x="0" y="621999"/>
        <a:ext cx="5393361" cy="621467"/>
      </dsp:txXfrm>
    </dsp:sp>
    <dsp:sp modelId="{3A79DE15-39AE-4740-A8B2-2A0D81EC62CB}">
      <dsp:nvSpPr>
        <dsp:cNvPr id="0" name=""/>
        <dsp:cNvSpPr/>
      </dsp:nvSpPr>
      <dsp:spPr>
        <a:xfrm>
          <a:off x="0" y="1243467"/>
          <a:ext cx="539336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D0FBD-A51E-422E-8ABC-B653FC5A9DBF}">
      <dsp:nvSpPr>
        <dsp:cNvPr id="0" name=""/>
        <dsp:cNvSpPr/>
      </dsp:nvSpPr>
      <dsp:spPr>
        <a:xfrm>
          <a:off x="0" y="1243467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Speed monitoring systems assist in controlling overspeeding</a:t>
          </a:r>
        </a:p>
      </dsp:txBody>
      <dsp:txXfrm>
        <a:off x="0" y="1243467"/>
        <a:ext cx="5393361" cy="621467"/>
      </dsp:txXfrm>
    </dsp:sp>
    <dsp:sp modelId="{67A009A5-FCCE-4278-A1E3-1BA97AFEB976}">
      <dsp:nvSpPr>
        <dsp:cNvPr id="0" name=""/>
        <dsp:cNvSpPr/>
      </dsp:nvSpPr>
      <dsp:spPr>
        <a:xfrm>
          <a:off x="0" y="1864935"/>
          <a:ext cx="539336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C2FCA-F66F-415F-8082-5AD7F5774ED5}">
      <dsp:nvSpPr>
        <dsp:cNvPr id="0" name=""/>
        <dsp:cNvSpPr/>
      </dsp:nvSpPr>
      <dsp:spPr>
        <a:xfrm>
          <a:off x="0" y="1864935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Studies show AI is effective in detecting driver fatigue</a:t>
          </a:r>
        </a:p>
      </dsp:txBody>
      <dsp:txXfrm>
        <a:off x="0" y="1864935"/>
        <a:ext cx="5393361" cy="621467"/>
      </dsp:txXfrm>
    </dsp:sp>
    <dsp:sp modelId="{DDB9A04E-EB68-4A9D-942F-48268A805838}">
      <dsp:nvSpPr>
        <dsp:cNvPr id="0" name=""/>
        <dsp:cNvSpPr/>
      </dsp:nvSpPr>
      <dsp:spPr>
        <a:xfrm>
          <a:off x="0" y="2486402"/>
          <a:ext cx="539336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93CA6-4AEC-47B3-819E-57AA12AA21AC}">
      <dsp:nvSpPr>
        <dsp:cNvPr id="0" name=""/>
        <dsp:cNvSpPr/>
      </dsp:nvSpPr>
      <dsp:spPr>
        <a:xfrm>
          <a:off x="0" y="2486402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techniques also identify driver distraction accurately</a:t>
          </a:r>
        </a:p>
      </dsp:txBody>
      <dsp:txXfrm>
        <a:off x="0" y="2486402"/>
        <a:ext cx="5393361" cy="621467"/>
      </dsp:txXfrm>
    </dsp:sp>
    <dsp:sp modelId="{22002129-E874-4690-B7C3-D7AA6C7EE809}">
      <dsp:nvSpPr>
        <dsp:cNvPr id="0" name=""/>
        <dsp:cNvSpPr/>
      </dsp:nvSpPr>
      <dsp:spPr>
        <a:xfrm>
          <a:off x="0" y="3107870"/>
          <a:ext cx="53933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BD11B-5A8C-426C-89D6-2555B3DA1B22}">
      <dsp:nvSpPr>
        <dsp:cNvPr id="0" name=""/>
        <dsp:cNvSpPr/>
      </dsp:nvSpPr>
      <dsp:spPr>
        <a:xfrm>
          <a:off x="0" y="3107870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IoT enables vehicle-to-vehicle communication</a:t>
          </a:r>
        </a:p>
      </dsp:txBody>
      <dsp:txXfrm>
        <a:off x="0" y="3107870"/>
        <a:ext cx="5393361" cy="621467"/>
      </dsp:txXfrm>
    </dsp:sp>
    <dsp:sp modelId="{68DFD7A3-5708-49E9-AED8-E15AF59CAD97}">
      <dsp:nvSpPr>
        <dsp:cNvPr id="0" name=""/>
        <dsp:cNvSpPr/>
      </dsp:nvSpPr>
      <dsp:spPr>
        <a:xfrm>
          <a:off x="0" y="3729338"/>
          <a:ext cx="539336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C2793-21C8-48BF-AA7B-C3FE2996C230}">
      <dsp:nvSpPr>
        <dsp:cNvPr id="0" name=""/>
        <dsp:cNvSpPr/>
      </dsp:nvSpPr>
      <dsp:spPr>
        <a:xfrm>
          <a:off x="0" y="3729338"/>
          <a:ext cx="539336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IoT supports vehicle-to-infrastructure data exchange</a:t>
          </a:r>
        </a:p>
      </dsp:txBody>
      <dsp:txXfrm>
        <a:off x="0" y="3729338"/>
        <a:ext cx="5393361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8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1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49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0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8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1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28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4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0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41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4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2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8B703-1B4B-611E-7EE0-85849572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Smart save drives 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5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4C210-D6E2-4E4F-A2D9-9C2FD1EB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41F5C5A-0D57-467E-B40D-4CE2640ABBA6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1/7/2026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BA39-A15B-1105-FC8E-E7E1EB4BD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Presented By Team 7: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Pamarthi vamshi-23CSE3019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Gundu Prajith-23CSE3037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Kesani chandrahas Reddy 23CSE3048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Rapol Srujith Reddy-23CSE3051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Ancha Rishi –23CSE3053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endParaRPr lang="en-US" b="1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ct val="0"/>
              </a:spcBef>
            </a:pPr>
            <a:endParaRPr lang="en-US" b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Guidence By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tx1">
                    <a:alpha val="80000"/>
                  </a:schemeClr>
                </a:solidFill>
              </a:rPr>
              <a:t>Mahesh Babu</a:t>
            </a:r>
          </a:p>
          <a:p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DBDA-0442-A867-3615-FD4B70E4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tx1">
                    <a:alpha val="60000"/>
                  </a:schemeClr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8C5CC-AE1E-2CEF-2422-83DDD029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53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8D54-D0D2-94F3-F121-894C3B99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E16217-4F01-4194-9750-2326CE6DA0B6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1/7/2026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C13EE-DF9B-ED7A-4C33-5E5554E9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47308" y="6356350"/>
            <a:ext cx="4842466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42059-2E3C-BC12-B20D-68A0CC00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9860" y="6356350"/>
            <a:ext cx="15339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383EA-4039-D675-4222-3F13D0E6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65" y="238777"/>
            <a:ext cx="11751446" cy="6063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Abstract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Road traffic accidents are a major global issue mainly caused by human errors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Common causes include distraction, fatigue, </a:t>
            </a:r>
            <a:r>
              <a:rPr lang="en-US" err="1">
                <a:ea typeface="+mn-lt"/>
                <a:cs typeface="+mn-lt"/>
              </a:rPr>
              <a:t>overspeeding</a:t>
            </a:r>
            <a:r>
              <a:rPr lang="en-US" dirty="0">
                <a:ea typeface="+mn-lt"/>
                <a:cs typeface="+mn-lt"/>
              </a:rPr>
              <a:t>, and delayed reactions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Safe Smart Drive is a technology-driven system to improve road safety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Integrates Artificial Intelligence (AI), Internet of Things (IoT), and cloud computing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 monitors driver behavior and predicts potential road hazards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IoT enables real-time vehicle-to-vehicle and vehicle-to-infrastructure communication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Cloud computing supports data analytics, traffic management, and emergency response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05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F1996-DE04-2798-CDA5-75CBC5B2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chemeClr val="tx2"/>
                </a:solidFill>
                <a:ea typeface="+mj-lt"/>
                <a:cs typeface="+mj-lt"/>
              </a:rPr>
              <a:t> </a:t>
            </a:r>
            <a:br>
              <a:rPr lang="en-US" b="0" dirty="0">
                <a:solidFill>
                  <a:schemeClr val="tx2"/>
                </a:solidFill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b="0" dirty="0">
                <a:solidFill>
                  <a:schemeClr val="tx2"/>
                </a:solidFill>
                <a:ea typeface="+mj-lt"/>
                <a:cs typeface="+mj-lt"/>
              </a:rPr>
              <a:t>Problem Definition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9F0A-C621-9B4F-ABBB-ABB9D7F8F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Road accidents are increasing rapidly across the world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Accidents cause high loss of life and serious injuries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Human errors contribute to most road crashes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Common errors include distraction, fatigue, and overspeeding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Existing safety systems respond only after accidents occur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Traditional methods lack real-time monitoring capabilities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There is no effective prediction of road hazards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chemeClr val="tx2"/>
                </a:solidFill>
                <a:ea typeface="+mn-lt"/>
                <a:cs typeface="+mn-lt"/>
              </a:rPr>
              <a:t>An intelligent system is required to assist drivers continuously</a:t>
            </a:r>
            <a:endParaRPr lang="en-US" sz="13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endParaRPr lang="en-US" sz="130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3" name="Graphic 42" descr="Car">
            <a:extLst>
              <a:ext uri="{FF2B5EF4-FFF2-40B4-BE49-F238E27FC236}">
                <a16:creationId xmlns:a16="http://schemas.microsoft.com/office/drawing/2014/main" id="{555597A2-2EC0-92E4-7B05-A725FC930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5A7C8-5371-027B-704E-C005E46C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D642AB-928B-4AD9-B38F-A682560DB278}" type="datetime1">
              <a:rPr lang="en-US"/>
              <a:pPr>
                <a:spcAft>
                  <a:spcPts val="600"/>
                </a:spcAft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BD221-603C-A9E0-8E39-94B69154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A1C3D-A52E-0656-DA0B-0A873CFB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0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72F12-FF5B-6282-A796-2D814D2B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Literature Survey Summary</a:t>
            </a:r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FE1BE1-381F-387A-A0AD-D8F75B2F1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35" r="6355" b="-12"/>
          <a:stretch>
            <a:fillRect/>
          </a:stretch>
        </p:blipFill>
        <p:spPr>
          <a:xfrm>
            <a:off x="7887184" y="1216552"/>
            <a:ext cx="3781051" cy="3780917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1B55F-7A79-750A-B929-913CC035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9050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3CD46FE-791E-4C2A-8014-32EA5043C47F}" type="datetime1">
              <a:rPr lang="en-US"/>
              <a:pPr>
                <a:spcAft>
                  <a:spcPts val="600"/>
                </a:spcAft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9867-C371-12CD-D33E-0CABECF1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8610" y="6356350"/>
            <a:ext cx="3372951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5BEC-DFB2-C1A1-0CD6-ACBE0AC0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0244" y="6356350"/>
            <a:ext cx="132355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C2424D5-7478-9895-D7B0-5A21A0AA7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963054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738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F83A0982-12A3-B31E-47C5-452246706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138" y="1065276"/>
            <a:ext cx="3829232" cy="4727448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1B186B-25E0-7126-BF23-08980584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System Architecture:</a:t>
            </a:r>
            <a:br>
              <a:rPr lang="en-US" sz="4400">
                <a:solidFill>
                  <a:schemeClr val="bg1"/>
                </a:solidFill>
              </a:rPr>
            </a:br>
            <a:r>
              <a:rPr lang="en-US" sz="4400">
                <a:solidFill>
                  <a:schemeClr val="bg1"/>
                </a:solidFill>
              </a:rPr>
              <a:t>                                                                             Block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F8E47-DB60-98CC-145D-1B6CE7F0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735056" y="987552"/>
            <a:ext cx="2286000" cy="64008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E3EDDC08-BBDF-4666-BBD1-26FDD8B769F0}" type="datetime1">
              <a:rPr lang="en-US" sz="1000">
                <a:solidFill>
                  <a:schemeClr val="bg1"/>
                </a:solidFill>
              </a:rPr>
              <a:pPr algn="r">
                <a:spcAft>
                  <a:spcPts val="600"/>
                </a:spcAft>
              </a:pPr>
              <a:t>1/7/2026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72D2-4FBD-3F30-6E8A-16767A6CB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Components</a:t>
            </a:r>
            <a:r>
              <a:rPr lang="en-US" sz="1100">
                <a:solidFill>
                  <a:schemeClr val="tx2"/>
                </a:solidFill>
                <a:ea typeface="+mn-lt"/>
                <a:cs typeface="+mn-lt"/>
              </a:rPr>
              <a:t> – Defines the major parts of the system (hardware, software, databases, services).</a:t>
            </a:r>
            <a:endParaRPr lang="en-US" sz="11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Layered Structure</a:t>
            </a:r>
            <a:r>
              <a:rPr lang="en-US" sz="1100">
                <a:solidFill>
                  <a:schemeClr val="tx2"/>
                </a:solidFill>
                <a:ea typeface="+mn-lt"/>
                <a:cs typeface="+mn-lt"/>
              </a:rPr>
              <a:t> – Separates the system into layers like presentation, business logic, and data for clarity and maintenance.</a:t>
            </a:r>
            <a:endParaRPr lang="en-US" sz="11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Data Flow</a:t>
            </a:r>
            <a:r>
              <a:rPr lang="en-US" sz="1100">
                <a:solidFill>
                  <a:schemeClr val="tx2"/>
                </a:solidFill>
                <a:ea typeface="+mn-lt"/>
                <a:cs typeface="+mn-lt"/>
              </a:rPr>
              <a:t> – Shows how data moves between components and how it is processed.</a:t>
            </a:r>
            <a:endParaRPr lang="en-US" sz="11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Communication</a:t>
            </a:r>
            <a:r>
              <a:rPr lang="en-US" sz="1100">
                <a:solidFill>
                  <a:schemeClr val="tx2"/>
                </a:solidFill>
                <a:ea typeface="+mn-lt"/>
                <a:cs typeface="+mn-lt"/>
              </a:rPr>
              <a:t> – Specifies how components interact (APIs, protocols, interfaces).</a:t>
            </a:r>
            <a:endParaRPr lang="en-US" sz="11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100" b="1">
                <a:solidFill>
                  <a:schemeClr val="tx2"/>
                </a:solidFill>
                <a:ea typeface="+mn-lt"/>
                <a:cs typeface="+mn-lt"/>
              </a:rPr>
              <a:t>Scalability &amp; Security</a:t>
            </a:r>
            <a:r>
              <a:rPr lang="en-US" sz="1100">
                <a:solidFill>
                  <a:schemeClr val="tx2"/>
                </a:solidFill>
                <a:ea typeface="+mn-lt"/>
                <a:cs typeface="+mn-lt"/>
              </a:rPr>
              <a:t> – Designed to handle growth, performance needs, and protect data from unauthorized access.</a:t>
            </a:r>
            <a:endParaRPr lang="en-US" sz="11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59306-7813-B9DE-A01D-A7C399D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40112" y="4032504"/>
            <a:ext cx="3657600" cy="6400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2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EBB16-42E0-C78F-CC0D-9635334A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z="1600">
                <a:solidFill>
                  <a:schemeClr val="tx2"/>
                </a:solidFill>
              </a:rPr>
              <a:pPr algn="ctr">
                <a:spcAft>
                  <a:spcPts val="600"/>
                </a:spcAft>
              </a:pPr>
              <a:t>5</a:t>
            </a:fld>
            <a:endParaRPr lang="en-US" sz="16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33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E7AE3-3492-FB8C-CDBE-C78629F2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rgbClr val="FFFFFF"/>
                </a:solidFill>
                <a:ea typeface="+mj-lt"/>
                <a:cs typeface="+mj-lt"/>
              </a:rPr>
              <a:t>Module-wise plan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FACA-620D-1713-2FB8-F5E7CFE85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Driver Monitoring Module captures driver facial and eye movements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Detects drowsiness, distraction, and unsafe driving behavior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Collision Detection Module identifies obstacles in real time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Predicts collision risks using sensor data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Speed Monitoring Module tracks vehicle speed continuously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Generates alerts for </a:t>
            </a:r>
            <a:r>
              <a:rPr lang="en-US" sz="1900" err="1">
                <a:ea typeface="+mn-lt"/>
                <a:cs typeface="+mn-lt"/>
              </a:rPr>
              <a:t>overspeeding</a:t>
            </a:r>
            <a:r>
              <a:rPr lang="en-US" sz="1900">
                <a:ea typeface="+mn-lt"/>
                <a:cs typeface="+mn-lt"/>
              </a:rPr>
              <a:t> situations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Communication Module exchanges real-time data using IoT</a:t>
            </a:r>
            <a:endParaRPr lang="en-US" sz="1900"/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Cloud Analytics Module analyzes traffic data and generates reports</a:t>
            </a:r>
            <a:endParaRPr lang="en-US" sz="1900"/>
          </a:p>
          <a:p>
            <a:pPr>
              <a:lnSpc>
                <a:spcPct val="110000"/>
              </a:lnSpc>
            </a:pPr>
            <a:endParaRPr lang="en-US" sz="1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38811-DDA1-3085-66C6-E2B5B8AE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99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9827623-3B01-48C5-A733-5AEEEB7ED5FA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1/7/2026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3C659-3F6C-C0EA-14A5-5DC2215E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CFDFA-D87B-10CE-0F41-7471A871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0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2990E-82A6-8147-02D1-C57218AA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chemeClr val="tx2"/>
                </a:solidFill>
                <a:ea typeface="+mj-lt"/>
                <a:cs typeface="+mj-lt"/>
              </a:rPr>
              <a:t>    Tools required</a:t>
            </a:r>
            <a:endParaRPr lang="en-US">
              <a:solidFill>
                <a:schemeClr val="tx2"/>
              </a:solidFill>
              <a:ea typeface="+mj-lt"/>
              <a:cs typeface="+mj-lt"/>
            </a:endParaRPr>
          </a:p>
        </p:txBody>
      </p:sp>
      <p:pic>
        <p:nvPicPr>
          <p:cNvPr id="10" name="Graphic 9" descr="Processor">
            <a:extLst>
              <a:ext uri="{FF2B5EF4-FFF2-40B4-BE49-F238E27FC236}">
                <a16:creationId xmlns:a16="http://schemas.microsoft.com/office/drawing/2014/main" id="{3707CA3E-3F85-29D2-DA3B-05BA1E2A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DFBD-5D90-B99C-9EAF-7953FB1D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Python is used for system development and integration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OpenCV is used for image and video processing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TensorFlow is used for AI model development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Camera is used for driver monitoring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Sensors are used for speed and obstacle detection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GPS module provides location tracking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Arduino or Raspberry Pi is used for IoT control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AWS or Firebase is used for cloud storage and analytics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8E54-548D-3C8A-109B-F4DE28E2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9337-C303-9466-945F-2ABDAC3A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9DE08D6-8068-4D01-BB2D-68B59026FCD2}" type="datetime1">
              <a:rPr lang="en-US"/>
              <a:pPr>
                <a:spcAft>
                  <a:spcPts val="600"/>
                </a:spcAft>
              </a:pPr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995FE-6FC8-D294-BAAC-52129939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1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FAA0B-3767-68BE-001C-BE404BA4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US" sz="4000">
                <a:ea typeface="+mj-lt"/>
                <a:cs typeface="+mj-lt"/>
              </a:rPr>
              <a:t>    </a:t>
            </a:r>
            <a:br>
              <a:rPr lang="en-US" sz="4000">
                <a:ea typeface="+mj-lt"/>
                <a:cs typeface="+mj-lt"/>
              </a:rPr>
            </a:br>
            <a:br>
              <a:rPr lang="en-US" sz="4000">
                <a:ea typeface="+mj-lt"/>
                <a:cs typeface="+mj-lt"/>
              </a:rPr>
            </a:br>
            <a:r>
              <a:rPr lang="en-US" sz="4000">
                <a:ea typeface="+mj-lt"/>
                <a:cs typeface="+mj-lt"/>
              </a:rPr>
              <a:t>Conclusion</a:t>
            </a:r>
            <a:r>
              <a:rPr lang="en-US" sz="4000" b="0">
                <a:ea typeface="+mj-lt"/>
                <a:cs typeface="+mj-lt"/>
              </a:rPr>
              <a:t>.</a:t>
            </a:r>
            <a:endParaRPr lang="en-US" sz="40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D857D-4FC0-59C9-66E8-A28765635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Smart Safe Drives play a crucial role in improving road safety by reducing human errors through intelligent technology. They help prevent accidents, save lives, and promote efficient and eco-friendly driving. While these systems offer significant advantages, they are not flawless and depend on proper usage, maintenance, and supporting infrastructure. Smart Safe Drives should be viewed as </a:t>
            </a:r>
            <a:r>
              <a:rPr lang="en-US" b="1">
                <a:ea typeface="+mn-lt"/>
                <a:cs typeface="+mn-lt"/>
              </a:rPr>
              <a:t>assistive tools, not replacements for responsible driving</a:t>
            </a:r>
            <a:r>
              <a:rPr lang="en-US">
                <a:ea typeface="+mn-lt"/>
                <a:cs typeface="+mn-lt"/>
              </a:rPr>
              <a:t>. Real road safety comes from combining technology with disciplined driver behavior and strong traffic regulations.</a:t>
            </a:r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4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EFF7A-59BB-5753-7BF1-CD28F7AB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          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E519918C-4BFD-16C7-BDFA-E4ABE5F2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9694046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VanillaVTI</vt:lpstr>
      <vt:lpstr>Smart save drives </vt:lpstr>
      <vt:lpstr>PowerPoint Presentation</vt:lpstr>
      <vt:lpstr>   Problem Definition</vt:lpstr>
      <vt:lpstr>Literature Survey Summary</vt:lpstr>
      <vt:lpstr>System Architecture:                                                                              Block Diagram</vt:lpstr>
      <vt:lpstr>Module-wise plan</vt:lpstr>
      <vt:lpstr>    Tools required</vt:lpstr>
      <vt:lpstr>      Conclusion.</vt:lpstr>
      <vt:lpstr>           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564</cp:revision>
  <dcterms:created xsi:type="dcterms:W3CDTF">2026-01-06T14:56:50Z</dcterms:created>
  <dcterms:modified xsi:type="dcterms:W3CDTF">2026-01-07T14:31:00Z</dcterms:modified>
</cp:coreProperties>
</file>